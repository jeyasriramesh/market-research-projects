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9144000"/>
  <p:notesSz cx="9144000" cy="6858000"/>
  <p:embeddedFontLst>
    <p:embeddedFont>
      <p:font typeface="Palatino Linotype"/>
      <p:regular r:id="rId34"/>
      <p:bold r:id="rId35"/>
      <p:italic r:id="rId36"/>
      <p:boldItalic r:id="rId37"/>
    </p:embeddedFont>
    <p:embeddedFont>
      <p:font typeface="Century Gothic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42" roundtripDataSignature="AMtx7mgX1XVISLlNJpyUzK+6nCJZqVnX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F42C909B-658E-4682-83D7-8AB23FD38B40}">
  <a:tblStyle styleId="{F42C909B-658E-4682-83D7-8AB23FD38B40}" styleName="Table_0">
    <a:wholeTbl>
      <a:tcTxStyle b="off" i="off">
        <a:font>
          <a:latin typeface="Palatino Linotype"/>
          <a:ea typeface="Palatino Linotype"/>
          <a:cs typeface="Palatino Linotype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BF2"/>
          </a:solidFill>
        </a:fill>
      </a:tcStyle>
    </a:wholeTbl>
    <a:band1H>
      <a:tcTxStyle/>
      <a:tcStyle>
        <a:fill>
          <a:solidFill>
            <a:srgbClr val="D1D5E5"/>
          </a:solidFill>
        </a:fill>
      </a:tcStyle>
    </a:band1H>
    <a:band2H>
      <a:tcTxStyle/>
    </a:band2H>
    <a:band1V>
      <a:tcTxStyle/>
      <a:tcStyle>
        <a:fill>
          <a:solidFill>
            <a:srgbClr val="D1D5E5"/>
          </a:solidFill>
        </a:fill>
      </a:tcStyle>
    </a:band1V>
    <a:band2V>
      <a:tcTxStyle/>
    </a:band2V>
    <a:lastCol>
      <a:tcTxStyle b="on" i="off">
        <a:font>
          <a:latin typeface="Palatino Linotype"/>
          <a:ea typeface="Palatino Linotype"/>
          <a:cs typeface="Palatino Linotype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Palatino Linotype"/>
          <a:ea typeface="Palatino Linotype"/>
          <a:cs typeface="Palatino Linotype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Palatino Linotype"/>
          <a:ea typeface="Palatino Linotype"/>
          <a:cs typeface="Palatino Linotype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Palatino Linotype"/>
          <a:ea typeface="Palatino Linotype"/>
          <a:cs typeface="Palatino Linotype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Gothic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CenturyGothic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PalatinoLinotype-bold.fntdata"/><Relationship Id="rId12" Type="http://schemas.openxmlformats.org/officeDocument/2006/relationships/slide" Target="slides/slide6.xml"/><Relationship Id="rId34" Type="http://schemas.openxmlformats.org/officeDocument/2006/relationships/font" Target="fonts/PalatinoLinotype-regular.fntdata"/><Relationship Id="rId15" Type="http://schemas.openxmlformats.org/officeDocument/2006/relationships/slide" Target="slides/slide9.xml"/><Relationship Id="rId37" Type="http://schemas.openxmlformats.org/officeDocument/2006/relationships/font" Target="fonts/PalatinoLinotype-boldItalic.fntdata"/><Relationship Id="rId14" Type="http://schemas.openxmlformats.org/officeDocument/2006/relationships/slide" Target="slides/slide8.xml"/><Relationship Id="rId36" Type="http://schemas.openxmlformats.org/officeDocument/2006/relationships/font" Target="fonts/PalatinoLinotype-italic.fntdata"/><Relationship Id="rId17" Type="http://schemas.openxmlformats.org/officeDocument/2006/relationships/slide" Target="slides/slide11.xml"/><Relationship Id="rId39" Type="http://schemas.openxmlformats.org/officeDocument/2006/relationships/font" Target="fonts/CenturyGothic-bold.fntdata"/><Relationship Id="rId16" Type="http://schemas.openxmlformats.org/officeDocument/2006/relationships/slide" Target="slides/slide10.xml"/><Relationship Id="rId38" Type="http://schemas.openxmlformats.org/officeDocument/2006/relationships/font" Target="fonts/CenturyGothic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8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6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7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/>
          <p:nvPr>
            <p:ph type="ctrTitle"/>
          </p:nvPr>
        </p:nvSpPr>
        <p:spPr>
          <a:xfrm>
            <a:off x="685800" y="609601"/>
            <a:ext cx="777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Palatino Linotyp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" type="subTitle"/>
          </p:nvPr>
        </p:nvSpPr>
        <p:spPr>
          <a:xfrm>
            <a:off x="1371600" y="4953000"/>
            <a:ext cx="6400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lvl="1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29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9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722313" y="1371600"/>
            <a:ext cx="7772400" cy="250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  <a:defRPr sz="4800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722313" y="4068763"/>
            <a:ext cx="7772400" cy="1131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31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31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6" name="Google Shape;36;p31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7" name="Google Shape;37;p31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2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 sz="24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1" name="Google Shape;41;p32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32"/>
          <p:cNvSpPr txBox="1"/>
          <p:nvPr>
            <p:ph idx="2" type="body"/>
          </p:nvPr>
        </p:nvSpPr>
        <p:spPr>
          <a:xfrm>
            <a:off x="365760" y="1600200"/>
            <a:ext cx="4041648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" type="body"/>
          </p:nvPr>
        </p:nvSpPr>
        <p:spPr>
          <a:xfrm>
            <a:off x="457200" y="1600200"/>
            <a:ext cx="4040188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b="0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33"/>
          <p:cNvSpPr txBox="1"/>
          <p:nvPr>
            <p:ph idx="2" type="body"/>
          </p:nvPr>
        </p:nvSpPr>
        <p:spPr>
          <a:xfrm>
            <a:off x="4648200" y="1600200"/>
            <a:ext cx="4041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b="0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3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3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33"/>
          <p:cNvSpPr txBox="1"/>
          <p:nvPr>
            <p:ph idx="3" type="body"/>
          </p:nvPr>
        </p:nvSpPr>
        <p:spPr>
          <a:xfrm>
            <a:off x="457200" y="2212848"/>
            <a:ext cx="4041648" cy="3913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4" type="body"/>
          </p:nvPr>
        </p:nvSpPr>
        <p:spPr>
          <a:xfrm>
            <a:off x="4672584" y="2212848"/>
            <a:ext cx="4041648" cy="39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5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5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6"/>
          <p:cNvSpPr txBox="1"/>
          <p:nvPr>
            <p:ph type="title"/>
          </p:nvPr>
        </p:nvSpPr>
        <p:spPr>
          <a:xfrm>
            <a:off x="5907087" y="266700"/>
            <a:ext cx="3008313" cy="209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latino Linotype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6"/>
          <p:cNvSpPr txBox="1"/>
          <p:nvPr>
            <p:ph idx="1" type="body"/>
          </p:nvPr>
        </p:nvSpPr>
        <p:spPr>
          <a:xfrm>
            <a:off x="719137" y="273050"/>
            <a:ext cx="4995863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7F7F7F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7F7F7F"/>
              </a:buClr>
              <a:buSzPts val="2800"/>
              <a:buChar char="o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36"/>
          <p:cNvSpPr txBox="1"/>
          <p:nvPr>
            <p:ph idx="2" type="body"/>
          </p:nvPr>
        </p:nvSpPr>
        <p:spPr>
          <a:xfrm>
            <a:off x="5907087" y="2438400"/>
            <a:ext cx="3008313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5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36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/>
          <p:nvPr>
            <p:ph type="title"/>
          </p:nvPr>
        </p:nvSpPr>
        <p:spPr>
          <a:xfrm>
            <a:off x="1679576" y="228600"/>
            <a:ext cx="5711824" cy="895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latino Linotype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/>
          <p:nvPr>
            <p:ph idx="2" type="pic"/>
          </p:nvPr>
        </p:nvSpPr>
        <p:spPr>
          <a:xfrm>
            <a:off x="1508126" y="1143000"/>
            <a:ext cx="6054724" cy="4541044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ctr" dir="5400000" dist="50800">
              <a:srgbClr val="000000">
                <a:alpha val="24705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Courier New"/>
              <a:buNone/>
              <a:defRPr b="0" i="0" sz="28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None/>
              <a:defRPr b="0" i="0" sz="20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None/>
              <a:defRPr b="0" i="0" sz="20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None/>
              <a:defRPr b="0" i="0" sz="20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3" name="Google Shape;73;p37"/>
          <p:cNvSpPr txBox="1"/>
          <p:nvPr>
            <p:ph idx="1" type="body"/>
          </p:nvPr>
        </p:nvSpPr>
        <p:spPr>
          <a:xfrm>
            <a:off x="1679576" y="5810250"/>
            <a:ext cx="5711824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37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8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8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8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8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9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39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9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9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chemeClr val="lt1"/>
            </a:gs>
            <a:gs pos="50000">
              <a:schemeClr val="lt1"/>
            </a:gs>
            <a:gs pos="76000">
              <a:srgbClr val="F3F3F3"/>
            </a:gs>
            <a:gs pos="92000">
              <a:srgbClr val="D8D8D8"/>
            </a:gs>
            <a:gs pos="100000">
              <a:srgbClr val="D8D8D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  <a:defRPr b="0" i="0" sz="54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8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6" name="Google Shape;16;p28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ctrTitle"/>
          </p:nvPr>
        </p:nvSpPr>
        <p:spPr>
          <a:xfrm>
            <a:off x="787845" y="-519546"/>
            <a:ext cx="777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lang="en-US" sz="4800"/>
              <a:t>Designing a marketing mix </a:t>
            </a:r>
            <a:br>
              <a:rPr lang="en-US" sz="4800"/>
            </a:br>
            <a:r>
              <a:rPr lang="en-US" sz="4800"/>
              <a:t>model for Dalmia Cement</a:t>
            </a:r>
            <a:endParaRPr sz="4800"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1019908" y="3962400"/>
            <a:ext cx="7308273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 Jeya Sri (13MBA033)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Guided by : Dr. J. Praveen Paul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Mepco Schlenk Engineering College, Sivakasi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2819400" y="6927"/>
            <a:ext cx="3922987" cy="1607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lang="en-US" sz="4800"/>
              <a:t>Problem Statement</a:t>
            </a:r>
            <a:endParaRPr sz="4800"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104" name="Google Shape;104;p2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2"/>
          <p:cNvSpPr txBox="1"/>
          <p:nvPr>
            <p:ph idx="1" type="body"/>
          </p:nvPr>
        </p:nvSpPr>
        <p:spPr>
          <a:xfrm>
            <a:off x="228600" y="1600200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	Dalmia cement is a client of Leo Burnett, Chennai.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	Even though advertisements and promotional schemes were modified the downstream supply chain was not able to help in the product movement .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	This study aims at identifying the opinions of the home builders, Dalmia cement dealers, Dalmia cement non-dealers and the influencers to find what hinders the downstream supply stream in triggering the product movement.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lang="en-US" sz="4800"/>
              <a:t>Objectives</a:t>
            </a:r>
            <a:endParaRPr sz="4800"/>
          </a:p>
        </p:txBody>
      </p:sp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114" name="Google Shape;114;p3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>
                <a:solidFill>
                  <a:schemeClr val="dk1"/>
                </a:solidFill>
              </a:rPr>
              <a:t>To analyze the factors affecting cement Home builders’ general opinion, expectations over cement and their opinion about Dalmia. 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2. To analyze the opinion of Dalmia non-dealers over  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     Dalmia.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3. To analyze the factors affecting the general opinion  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     and expectations over cement of Influencers and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     particularly their opinion about Dalmia. </a:t>
            </a:r>
            <a:endParaRPr/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lang="en-US" sz="4800"/>
              <a:t>Objectives</a:t>
            </a:r>
            <a:endParaRPr sz="4800"/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124" name="Google Shape;124;p4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457200" y="1600200"/>
            <a:ext cx="8458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4. To analyze the factors affecting cement Dalmia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    cement dealers’ general opinion, expectations over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    cement and particularly their opinion about Dalmia.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5. To develop a marketing mix model for Dalmia using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     the collective findings obtained from Home builders,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     Influencers, Dalmia dealers and Dalmia non-dealers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     cement.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lang="en-US" sz="4800"/>
              <a:t>Scope</a:t>
            </a:r>
            <a:endParaRPr sz="4800"/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This study was conducted in Chennai covering around 59 areas.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136" name="Google Shape;1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7" name="Google Shape;137;p5"/>
          <p:cNvGraphicFramePr/>
          <p:nvPr/>
        </p:nvGraphicFramePr>
        <p:xfrm>
          <a:off x="1626045" y="297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{F42C909B-658E-4682-83D7-8AB23FD38B40}</a:tableStyleId>
              </a:tblPr>
              <a:tblGrid>
                <a:gridCol w="3048000"/>
                <a:gridCol w="3048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Respondents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Count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Home builders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alatino Linotype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 30 people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Dalmia cement dealers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40 people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Dalmia cement non-dealers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20 people 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Influencers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14 people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>
            <p:ph type="title"/>
          </p:nvPr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lang="en-US" sz="4800"/>
              <a:t>Research Methodology</a:t>
            </a:r>
            <a:endParaRPr sz="4800"/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145" name="Google Shape;145;p6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46" name="Google Shape;146;p6"/>
          <p:cNvGraphicFramePr/>
          <p:nvPr/>
        </p:nvGraphicFramePr>
        <p:xfrm>
          <a:off x="15240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{F42C909B-658E-4682-83D7-8AB23FD38B40}</a:tableStyleId>
              </a:tblPr>
              <a:tblGrid>
                <a:gridCol w="2824900"/>
                <a:gridCol w="6014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SAMPLE SIZE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104</a:t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SAMPLING</a:t>
                      </a:r>
                      <a:r>
                        <a:rPr b="1" lang="en-US" sz="1800"/>
                        <a:t> TYPE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Convenience sampling within </a:t>
                      </a:r>
                      <a:r>
                        <a:rPr lang="en-US" sz="1800"/>
                        <a:t>Area sampling 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SAMPLING</a:t>
                      </a:r>
                      <a:r>
                        <a:rPr b="1" lang="en-US" sz="1800"/>
                        <a:t> LOCATION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alatino Linotype"/>
                        <a:buNone/>
                      </a:pPr>
                      <a:r>
                        <a:rPr lang="en-US" sz="1800"/>
                        <a:t>59 area</a:t>
                      </a:r>
                      <a:r>
                        <a:rPr lang="en-US" sz="1800"/>
                        <a:t>s in Chennai (including urban and sub-urbs)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DATA</a:t>
                      </a:r>
                      <a:r>
                        <a:rPr b="1" lang="en-US" sz="1800"/>
                        <a:t> COLLECTION METHODS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Direct Interview (Structured Questionnaire)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Phone Interview (Structured Questionnaire)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Casual Conversation ( Unstructured )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DATA</a:t>
                      </a:r>
                      <a:r>
                        <a:rPr b="1" lang="en-US" sz="1800"/>
                        <a:t> ANALYSIS TOOLS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Cross tabs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Chi-square test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Weighted average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Frequency analysis (Single and multiple responses)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Regression (Simple linear and multiple)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Correlation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Mean Rank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Non parametric tests (Kruskal Wallis &amp; Man whitney U )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147" name="Google Shape;1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8786" y="5965042"/>
            <a:ext cx="4672709" cy="913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7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154" name="Google Shape;154;p7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7"/>
          <p:cNvSpPr txBox="1"/>
          <p:nvPr>
            <p:ph idx="1" type="body"/>
          </p:nvPr>
        </p:nvSpPr>
        <p:spPr>
          <a:xfrm>
            <a:off x="533400" y="1600200"/>
            <a:ext cx="80772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77% of dealers displayed point of purchase ads. 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Small scale dealers are more interested in pushing the C grade cement brands.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97.5% dealers find it easy to acquire Dalmia dealership. 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7.3% dealers have quitted the dealership in past 2 years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7.5% dealers were not called for dealer meeting.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20% of the dealers follow JIT approach.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15% of the dealers do advertising.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6" name="Google Shape;15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1 -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8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164" name="Google Shape;164;p8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82.5% dealers have received the marketing assistance from the company and among them 92.5% dealers find it satisfactory and the rest 7.5% wants it to be provided regularly.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60% of the dealers have high demand for Dalmia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25% of the dealers are found to personally recommend Dalmia to the customers.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50% of the customers are found to be particularly asking for Dalmia.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6" name="Google Shape;16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1 -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9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174" name="Google Shape;174;p9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7.5% of the dealers doesn’t get stock delivered on time and 5% of the dealers find it unfavorable to make changes in the order.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82.5% dealers had sufficient stock at the time of their highest orders.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Dealers’ overall favorableness ranking</a:t>
            </a:r>
            <a:endParaRPr/>
          </a:p>
          <a:p>
            <a:pPr indent="-457200" lvl="5" marL="2628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entury Gothic"/>
              <a:buAutoNum type="arabicPeriod"/>
            </a:pPr>
            <a:r>
              <a:rPr lang="en-US" sz="2600">
                <a:solidFill>
                  <a:schemeClr val="dk1"/>
                </a:solidFill>
              </a:rPr>
              <a:t>Ultratech</a:t>
            </a:r>
            <a:endParaRPr/>
          </a:p>
          <a:p>
            <a:pPr indent="-457200" lvl="5" marL="2628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entury Gothic"/>
              <a:buAutoNum type="arabicPeriod"/>
            </a:pPr>
            <a:r>
              <a:rPr lang="en-US" sz="2600">
                <a:solidFill>
                  <a:schemeClr val="dk1"/>
                </a:solidFill>
              </a:rPr>
              <a:t>Coromandel</a:t>
            </a:r>
            <a:endParaRPr sz="2600">
              <a:solidFill>
                <a:schemeClr val="dk1"/>
              </a:solidFill>
            </a:endParaRPr>
          </a:p>
          <a:p>
            <a:pPr indent="-457200" lvl="5" marL="2628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entury Gothic"/>
              <a:buAutoNum type="arabicPeriod"/>
            </a:pPr>
            <a:r>
              <a:rPr lang="en-US" sz="2600">
                <a:solidFill>
                  <a:schemeClr val="dk1"/>
                </a:solidFill>
              </a:rPr>
              <a:t>Priya</a:t>
            </a:r>
            <a:endParaRPr sz="2600">
              <a:solidFill>
                <a:schemeClr val="dk1"/>
              </a:solidFill>
            </a:endParaRPr>
          </a:p>
          <a:p>
            <a:pPr indent="-457200" lvl="5" marL="2628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Century Gothic"/>
              <a:buAutoNum type="arabicPeriod"/>
            </a:pPr>
            <a:r>
              <a:rPr b="1" lang="en-US" sz="2600">
                <a:solidFill>
                  <a:srgbClr val="FF0000"/>
                </a:solidFill>
              </a:rPr>
              <a:t>Dalmia</a:t>
            </a:r>
            <a:endParaRPr b="1" sz="2600">
              <a:solidFill>
                <a:srgbClr val="FF0000"/>
              </a:solidFill>
            </a:endParaRPr>
          </a:p>
          <a:p>
            <a:pPr indent="-457200" lvl="5" marL="2628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entury Gothic"/>
              <a:buAutoNum type="arabicPeriod"/>
            </a:pPr>
            <a:r>
              <a:rPr lang="en-US" sz="2600">
                <a:solidFill>
                  <a:schemeClr val="dk1"/>
                </a:solidFill>
              </a:rPr>
              <a:t>Ramco  </a:t>
            </a:r>
            <a:r>
              <a:rPr i="1" lang="en-US" sz="2000">
                <a:solidFill>
                  <a:srgbClr val="000000"/>
                </a:solidFill>
              </a:rPr>
              <a:t>(A.Tool : Weighted Average)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6" name="Google Shape;17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6096000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1 -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0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0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184" name="Google Shape;184;p10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10"/>
          <p:cNvSpPr txBox="1"/>
          <p:nvPr>
            <p:ph idx="1" type="body"/>
          </p:nvPr>
        </p:nvSpPr>
        <p:spPr>
          <a:xfrm>
            <a:off x="228600" y="9906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There is </a:t>
            </a:r>
            <a:r>
              <a:rPr b="1" lang="en-US">
                <a:solidFill>
                  <a:schemeClr val="dk1"/>
                </a:solidFill>
              </a:rPr>
              <a:t>positive relationship </a:t>
            </a:r>
            <a:r>
              <a:rPr lang="en-US">
                <a:solidFill>
                  <a:schemeClr val="dk1"/>
                </a:solidFill>
              </a:rPr>
              <a:t>between </a:t>
            </a:r>
            <a:endParaRPr>
              <a:solidFill>
                <a:schemeClr val="dk1"/>
              </a:solidFill>
            </a:endParaRPr>
          </a:p>
          <a:p>
            <a:pPr indent="-285750" lvl="1" marL="6858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 sz="2400">
                <a:solidFill>
                  <a:schemeClr val="dk1"/>
                </a:solidFill>
              </a:rPr>
              <a:t>years of dealership with Dalmia and dealer meetings conducted </a:t>
            </a:r>
            <a:endParaRPr sz="2400">
              <a:solidFill>
                <a:schemeClr val="dk1"/>
              </a:solidFill>
            </a:endParaRPr>
          </a:p>
          <a:p>
            <a:pPr indent="-285750" lvl="1" marL="6858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 sz="2400">
                <a:solidFill>
                  <a:schemeClr val="dk1"/>
                </a:solidFill>
              </a:rPr>
              <a:t>years of dealership with Dalmia and highest order placed in a single lot. </a:t>
            </a:r>
            <a:endParaRPr sz="2400">
              <a:solidFill>
                <a:schemeClr val="dk1"/>
              </a:solidFill>
            </a:endParaRPr>
          </a:p>
          <a:p>
            <a:pPr indent="-285750" lvl="1" marL="6858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 sz="2400">
                <a:solidFill>
                  <a:schemeClr val="dk1"/>
                </a:solidFill>
              </a:rPr>
              <a:t>responsive communication from company, dealer problem addressing nature of the company, technical support provided by the company, trade promotions, the allowances provided by Dalmia. 	</a:t>
            </a:r>
            <a:endParaRPr/>
          </a:p>
          <a:p>
            <a:pPr indent="-285750" lvl="1" marL="6858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 sz="2400">
                <a:solidFill>
                  <a:schemeClr val="dk1"/>
                </a:solidFill>
              </a:rPr>
              <a:t>the dealership satisfaction, market assistance satisfaction, order changing satisfaction, timely stock delivery satisfaction and the overall dealership satisfaction. </a:t>
            </a:r>
            <a:r>
              <a:rPr i="1" lang="en-US" sz="2000">
                <a:solidFill>
                  <a:srgbClr val="000000"/>
                </a:solidFill>
              </a:rPr>
              <a:t>(A.Tool : Correlation )</a:t>
            </a:r>
            <a:endParaRPr sz="2400">
              <a:solidFill>
                <a:schemeClr val="dk1"/>
              </a:solidFill>
            </a:endParaRPr>
          </a:p>
          <a:p>
            <a:pPr indent="-184150" lvl="1" marL="68580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6" name="Google Shape;18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60968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 txBox="1"/>
          <p:nvPr/>
        </p:nvSpPr>
        <p:spPr>
          <a:xfrm>
            <a:off x="359979" y="-609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1 -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1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194" name="Google Shape;194;p11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11"/>
          <p:cNvSpPr txBox="1"/>
          <p:nvPr>
            <p:ph idx="1" type="body"/>
          </p:nvPr>
        </p:nvSpPr>
        <p:spPr>
          <a:xfrm>
            <a:off x="228600" y="987972"/>
            <a:ext cx="8763000" cy="4949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There is </a:t>
            </a:r>
            <a:r>
              <a:rPr b="1" lang="en-US">
                <a:solidFill>
                  <a:schemeClr val="dk1"/>
                </a:solidFill>
              </a:rPr>
              <a:t>no significant difference </a:t>
            </a:r>
            <a:r>
              <a:rPr lang="en-US">
                <a:solidFill>
                  <a:schemeClr val="dk1"/>
                </a:solidFill>
              </a:rPr>
              <a:t>between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the size of firm and the people preference of Dalmia.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the size of firm and the willingness to continue dealership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the size of firm and the frequency of dealership meetings being called for. 	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the size of the and the POS materials displayed. 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the size of the and the frequency of advertisements made by them. 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the size of the and the sufficient stock availability </a:t>
            </a:r>
            <a:endParaRPr/>
          </a:p>
          <a:p>
            <a:pPr indent="0" lvl="5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i="1" lang="en-US" sz="2000">
                <a:solidFill>
                  <a:srgbClr val="000000"/>
                </a:solidFill>
              </a:rPr>
              <a:t>      (A.Tool : Kruskall walli’s Test &amp; Man Whitney’s Test)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6" name="Google Shape;19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60968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1"/>
          <p:cNvSpPr txBox="1"/>
          <p:nvPr/>
        </p:nvSpPr>
        <p:spPr>
          <a:xfrm>
            <a:off x="34159" y="-612228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1 -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2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2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204" name="Google Shape;204;p12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12"/>
          <p:cNvSpPr txBox="1"/>
          <p:nvPr>
            <p:ph idx="1" type="body"/>
          </p:nvPr>
        </p:nvSpPr>
        <p:spPr>
          <a:xfrm>
            <a:off x="381000" y="1411552"/>
            <a:ext cx="8534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There is </a:t>
            </a:r>
            <a:r>
              <a:rPr b="1" lang="en-US">
                <a:solidFill>
                  <a:schemeClr val="dk1"/>
                </a:solidFill>
              </a:rPr>
              <a:t>no significant cluster groups </a:t>
            </a:r>
            <a:r>
              <a:rPr lang="en-US">
                <a:solidFill>
                  <a:schemeClr val="dk1"/>
                </a:solidFill>
              </a:rPr>
              <a:t>available among the dealers with respect to their dealership experience, highest order received on a single lot and stock capacity </a:t>
            </a:r>
            <a:endParaRPr/>
          </a:p>
          <a:p>
            <a:pPr indent="0" lvl="5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i="1" lang="en-US" sz="2000">
                <a:solidFill>
                  <a:srgbClr val="000000"/>
                </a:solidFill>
              </a:rPr>
              <a:t>     (A.Tool : Cluster Analysis )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There is </a:t>
            </a:r>
            <a:r>
              <a:rPr b="1" lang="en-US">
                <a:solidFill>
                  <a:schemeClr val="dk1"/>
                </a:solidFill>
              </a:rPr>
              <a:t>significant difference </a:t>
            </a:r>
            <a:r>
              <a:rPr lang="en-US">
                <a:solidFill>
                  <a:schemeClr val="dk1"/>
                </a:solidFill>
              </a:rPr>
              <a:t>between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 sz="2400">
                <a:solidFill>
                  <a:schemeClr val="dk1"/>
                </a:solidFill>
              </a:rPr>
              <a:t>the size of the firm and the demand for Dalmia.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 sz="2400">
                <a:solidFill>
                  <a:schemeClr val="dk1"/>
                </a:solidFill>
              </a:rPr>
              <a:t>the size of the firm and the marketing tips provided. </a:t>
            </a:r>
            <a:endParaRPr/>
          </a:p>
          <a:p>
            <a:pPr indent="0" lvl="5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i="1" lang="en-US" sz="2000">
                <a:solidFill>
                  <a:srgbClr val="000000"/>
                </a:solidFill>
              </a:rPr>
              <a:t>       (A.Tool : Kruskall walli’s Test &amp; Man Whitney’s Test)</a:t>
            </a:r>
            <a:endParaRPr sz="2600">
              <a:solidFill>
                <a:schemeClr val="dk1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6" name="Google Shape;20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2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1 -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3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3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214" name="Google Shape;214;p13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50% of the dealers have received demand for Dalmia and 35% of the dealers are willing to stock Dalmia in future.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Top 5 fast moving brands are </a:t>
            </a:r>
            <a:endParaRPr>
              <a:solidFill>
                <a:schemeClr val="dk1"/>
              </a:solidFill>
            </a:endParaRPr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Coromandel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Ultratech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Priya &amp; Mahashakthi</a:t>
            </a:r>
            <a:endParaRPr sz="2400">
              <a:solidFill>
                <a:schemeClr val="dk1"/>
              </a:solidFill>
            </a:endParaRPr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Penna</a:t>
            </a:r>
            <a:endParaRPr sz="2400">
              <a:solidFill>
                <a:schemeClr val="dk1"/>
              </a:solidFill>
            </a:endParaRPr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Ramco &amp; Zuari  </a:t>
            </a:r>
            <a:r>
              <a:rPr i="1" lang="en-US" sz="2000">
                <a:solidFill>
                  <a:schemeClr val="dk1"/>
                </a:solidFill>
              </a:rPr>
              <a:t>(A.Tool : Weighted Average)</a:t>
            </a:r>
            <a:endParaRPr i="1" sz="2000">
              <a:solidFill>
                <a:schemeClr val="dk1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6" name="Google Shape;21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3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2 -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4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4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224" name="Google Shape;224;p14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Reason for willingness to stock 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Demand is there is retail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Incentives are good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Wishing to expand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Reason for unwillingness to stock 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No frequent demand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Profit margin is less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Doing in small scale only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6" name="Google Shape;22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4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2 -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5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5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234" name="Google Shape;234;p15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There </a:t>
            </a:r>
            <a:r>
              <a:rPr b="1" lang="en-US">
                <a:solidFill>
                  <a:schemeClr val="dk1"/>
                </a:solidFill>
              </a:rPr>
              <a:t>is relationship </a:t>
            </a:r>
            <a:r>
              <a:rPr lang="en-US">
                <a:solidFill>
                  <a:schemeClr val="dk1"/>
                </a:solidFill>
              </a:rPr>
              <a:t>between the 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dealership experience and the willingness for future dealership.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earlier demand and the willingness for future dealership. </a:t>
            </a:r>
            <a:r>
              <a:rPr i="1" lang="en-US" sz="2000">
                <a:solidFill>
                  <a:srgbClr val="000000"/>
                </a:solidFill>
              </a:rPr>
              <a:t>(A.Tool : Correlation 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36" name="Google Shape;23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5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2 -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16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6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244" name="Google Shape;244;p16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16"/>
          <p:cNvSpPr txBox="1"/>
          <p:nvPr>
            <p:ph idx="1" type="body"/>
          </p:nvPr>
        </p:nvSpPr>
        <p:spPr>
          <a:xfrm>
            <a:off x="559245" y="1353065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Source of influencers’ suggestion</a:t>
            </a:r>
            <a:endParaRPr/>
          </a:p>
        </p:txBody>
      </p:sp>
      <p:pic>
        <p:nvPicPr>
          <p:cNvPr id="246" name="Google Shape;2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6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3 -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48" name="Google Shape;2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9869" y="1905000"/>
            <a:ext cx="6972124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7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7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255" name="Google Shape;255;p17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17"/>
          <p:cNvSpPr txBox="1"/>
          <p:nvPr>
            <p:ph idx="1" type="body"/>
          </p:nvPr>
        </p:nvSpPr>
        <p:spPr>
          <a:xfrm>
            <a:off x="152400" y="1600200"/>
            <a:ext cx="88392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</a:rPr>
              <a:t>Prioritized considerations of influencers</a:t>
            </a:r>
            <a:endParaRPr/>
          </a:p>
          <a:p>
            <a:pPr indent="-330200" lvl="5" marL="2628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entury Gothic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457200" lvl="5" marL="2628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Quality</a:t>
            </a:r>
            <a:endParaRPr/>
          </a:p>
          <a:p>
            <a:pPr indent="-457200" lvl="5" marL="2628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Expert opinion</a:t>
            </a:r>
            <a:endParaRPr/>
          </a:p>
          <a:p>
            <a:pPr indent="-457200" lvl="5" marL="2628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Availability</a:t>
            </a:r>
            <a:endParaRPr/>
          </a:p>
          <a:p>
            <a:pPr indent="-457200" lvl="5" marL="2628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Price</a:t>
            </a:r>
            <a:endParaRPr/>
          </a:p>
          <a:p>
            <a:pPr indent="-457200" lvl="5" marL="2628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Application and grade available</a:t>
            </a:r>
            <a:endParaRPr/>
          </a:p>
          <a:p>
            <a:pPr indent="-457200" lvl="5" marL="2628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Freight Charges</a:t>
            </a:r>
            <a:endParaRPr/>
          </a:p>
          <a:p>
            <a:pPr indent="-457200" lvl="5" marL="2628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Company assistance &amp; VA services</a:t>
            </a:r>
            <a:endParaRPr/>
          </a:p>
          <a:p>
            <a:pPr indent="-457200" lvl="5" marL="2628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Brand image</a:t>
            </a:r>
            <a:endParaRPr/>
          </a:p>
          <a:p>
            <a:pPr indent="-457200" lvl="5" marL="2628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Psychological reasons</a:t>
            </a:r>
            <a:endParaRPr/>
          </a:p>
          <a:p>
            <a:pPr indent="-457200" lvl="5" marL="2628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Brand ambassador </a:t>
            </a:r>
            <a:r>
              <a:rPr i="1" lang="en-US" sz="2000">
                <a:solidFill>
                  <a:schemeClr val="dk1"/>
                </a:solidFill>
              </a:rPr>
              <a:t>(A.Tool : Weighted Average)</a:t>
            </a:r>
            <a:endParaRPr sz="2000">
              <a:solidFill>
                <a:schemeClr val="dk1"/>
              </a:solidFill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57" name="Google Shape;2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7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3 -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18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8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265" name="Google Shape;265;p18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Long life time &amp; Smooth finish are given more priority than less setting time. Dalmia’s average rating in these aspect is  Good.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Top 5 favorable brands are </a:t>
            </a:r>
            <a:endParaRPr>
              <a:solidFill>
                <a:schemeClr val="dk1"/>
              </a:solidFill>
            </a:endParaRPr>
          </a:p>
          <a:p>
            <a:pPr indent="-457200" lvl="2" marL="12573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Ultratech</a:t>
            </a:r>
            <a:endParaRPr/>
          </a:p>
          <a:p>
            <a:pPr indent="-457200" lvl="2" marL="12573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Coromandel</a:t>
            </a:r>
            <a:endParaRPr/>
          </a:p>
          <a:p>
            <a:pPr indent="-457200" lvl="2" marL="12573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Zuari</a:t>
            </a:r>
            <a:endParaRPr sz="2400">
              <a:solidFill>
                <a:schemeClr val="dk1"/>
              </a:solidFill>
            </a:endParaRPr>
          </a:p>
          <a:p>
            <a:pPr indent="-457200" lvl="2" marL="12573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entury Gothic"/>
              <a:buAutoNum type="arabicPeriod"/>
            </a:pPr>
            <a:r>
              <a:rPr b="1" lang="en-US" sz="2400">
                <a:solidFill>
                  <a:srgbClr val="FF0000"/>
                </a:solidFill>
              </a:rPr>
              <a:t>Dalmia</a:t>
            </a:r>
            <a:endParaRPr/>
          </a:p>
          <a:p>
            <a:pPr indent="-457200" lvl="2" marL="12573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Ramco </a:t>
            </a:r>
            <a:r>
              <a:rPr i="1" lang="en-US" sz="2000">
                <a:solidFill>
                  <a:srgbClr val="000000"/>
                </a:solidFill>
              </a:rPr>
              <a:t>(A.Tool : Weighted Average)</a:t>
            </a:r>
            <a:endParaRPr sz="2400">
              <a:solidFill>
                <a:schemeClr val="dk1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67" name="Google Shape;2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8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3 -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9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9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275" name="Google Shape;275;p19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There </a:t>
            </a:r>
            <a:r>
              <a:rPr b="1" lang="en-US">
                <a:solidFill>
                  <a:schemeClr val="dk1"/>
                </a:solidFill>
              </a:rPr>
              <a:t>is significant difference </a:t>
            </a:r>
            <a:r>
              <a:rPr lang="en-US">
                <a:solidFill>
                  <a:schemeClr val="dk1"/>
                </a:solidFill>
              </a:rPr>
              <a:t>between the designation of the influencers and the tie ups with the dealers.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There is </a:t>
            </a:r>
            <a:r>
              <a:rPr b="1" lang="en-US">
                <a:solidFill>
                  <a:schemeClr val="dk1"/>
                </a:solidFill>
              </a:rPr>
              <a:t>no significant difference </a:t>
            </a:r>
            <a:r>
              <a:rPr lang="en-US">
                <a:solidFill>
                  <a:schemeClr val="dk1"/>
                </a:solidFill>
              </a:rPr>
              <a:t>between </a:t>
            </a:r>
            <a:endParaRPr>
              <a:solidFill>
                <a:schemeClr val="dk1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 sz="2400">
                <a:solidFill>
                  <a:schemeClr val="dk1"/>
                </a:solidFill>
              </a:rPr>
              <a:t>the designation of the influencers and the preference of Dalmia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 sz="2400">
                <a:solidFill>
                  <a:schemeClr val="dk1"/>
                </a:solidFill>
              </a:rPr>
              <a:t>the designation of the influencers and the alternative cement preferred by the influencer</a:t>
            </a:r>
            <a:r>
              <a:rPr lang="en-US">
                <a:solidFill>
                  <a:schemeClr val="dk1"/>
                </a:solidFill>
              </a:rPr>
              <a:t>.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7" name="Google Shape;2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9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3 -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0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0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285" name="Google Shape;285;p20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20"/>
          <p:cNvSpPr txBox="1"/>
          <p:nvPr>
            <p:ph idx="1" type="body"/>
          </p:nvPr>
        </p:nvSpPr>
        <p:spPr>
          <a:xfrm>
            <a:off x="393357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Brand Awareness source</a:t>
            </a:r>
            <a:endParaRPr/>
          </a:p>
        </p:txBody>
      </p:sp>
      <p:pic>
        <p:nvPicPr>
          <p:cNvPr id="287" name="Google Shape;2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0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4 -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89" name="Google Shape;289;p20"/>
          <p:cNvPicPr preferRelativeResize="0"/>
          <p:nvPr/>
        </p:nvPicPr>
        <p:blipFill rotWithShape="1">
          <a:blip r:embed="rId5">
            <a:alphaModFix/>
          </a:blip>
          <a:srcRect b="1920" l="4959" r="0" t="8216"/>
          <a:stretch/>
        </p:blipFill>
        <p:spPr>
          <a:xfrm>
            <a:off x="863015" y="1754659"/>
            <a:ext cx="7622059" cy="4189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1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1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296" name="Google Shape;296;p21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" name="Google Shape;297;p21"/>
          <p:cNvSpPr txBox="1"/>
          <p:nvPr>
            <p:ph idx="1" type="body"/>
          </p:nvPr>
        </p:nvSpPr>
        <p:spPr>
          <a:xfrm>
            <a:off x="393357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Using Dalmia for floors/roof alone and choosing low cost cement for walls.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Switching to substitute brand due to lack of availability.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Not willing to opt Dalmia due to relatives/friends being other close substitute cement’s dealer or psychological reasons like being used up to an usual brand.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When people mention Ultratech they address it as L&amp;T cement and were not aware of that, that its not owned by L&amp;T now.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8" name="Google Shape;2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1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4 -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2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2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306" name="Google Shape;306;p22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22"/>
          <p:cNvSpPr txBox="1"/>
          <p:nvPr>
            <p:ph idx="1" type="body"/>
          </p:nvPr>
        </p:nvSpPr>
        <p:spPr>
          <a:xfrm>
            <a:off x="393357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Main reason stated for using Ramco cement is psychological preference.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Not familiar with recent ads. ‘100/100 Vajram’ is the ad (2009) they were able to recall.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50% of the people are aware of the price changes in their favorable brand.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People were ready to buy Dalmia only if its price is less than Ultratech and Coromandel. If its same price people were seemed to prefer Ultratech &amp; Coromandel to Dalmia.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08" name="Google Shape;30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4 -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3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3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316" name="Google Shape;316;p23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7" name="Google Shape;317;p23"/>
          <p:cNvSpPr txBox="1"/>
          <p:nvPr>
            <p:ph idx="1" type="body"/>
          </p:nvPr>
        </p:nvSpPr>
        <p:spPr>
          <a:xfrm>
            <a:off x="393357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Males are more involved in decision making when buying cement.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There is relationship between the price sensitive nature and the overall satisfaction of using Dalmia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Quality is the foremost consideration of the home builders followed by price and expert opinion. It‟s also found that psychological reasons and brand ambassador have almost no consideration while buying a cement brand.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The gender and the cement addressing nature are independent </a:t>
            </a:r>
            <a:r>
              <a:rPr i="1" lang="en-US" sz="2000">
                <a:solidFill>
                  <a:schemeClr val="dk1"/>
                </a:solidFill>
              </a:rPr>
              <a:t>(A.Tool : Chi-Square Test )</a:t>
            </a:r>
            <a:r>
              <a:rPr lang="en-US"/>
              <a:t>	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318" name="Google Shape;3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4 -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4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4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326" name="Google Shape;326;p24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7" name="Google Shape;327;p24"/>
          <p:cNvSpPr txBox="1"/>
          <p:nvPr>
            <p:ph idx="1" type="body"/>
          </p:nvPr>
        </p:nvSpPr>
        <p:spPr>
          <a:xfrm>
            <a:off x="393357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Product :     </a:t>
            </a:r>
            <a:endParaRPr>
              <a:solidFill>
                <a:schemeClr val="dk1"/>
              </a:solidFill>
            </a:endParaRPr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b="1" lang="en-US" sz="1800">
                <a:solidFill>
                  <a:schemeClr val="dk1"/>
                </a:solidFill>
              </a:rPr>
              <a:t>Bag colour</a:t>
            </a:r>
            <a:r>
              <a:rPr lang="en-US" sz="1800">
                <a:solidFill>
                  <a:schemeClr val="dk1"/>
                </a:solidFill>
              </a:rPr>
              <a:t> should be changed. 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b="1" lang="en-US" sz="1800">
                <a:solidFill>
                  <a:schemeClr val="dk1"/>
                </a:solidFill>
              </a:rPr>
              <a:t>Cement colour </a:t>
            </a:r>
            <a:r>
              <a:rPr lang="en-US" sz="1800">
                <a:solidFill>
                  <a:schemeClr val="dk1"/>
                </a:solidFill>
              </a:rPr>
              <a:t>can be lightened if possible. </a:t>
            </a:r>
            <a:endParaRPr/>
          </a:p>
          <a:p>
            <a:pPr indent="0" lvl="1" marL="457200" rtl="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Promotion :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b="1" lang="en-US" sz="1800">
                <a:solidFill>
                  <a:schemeClr val="dk1"/>
                </a:solidFill>
              </a:rPr>
              <a:t>Response </a:t>
            </a:r>
            <a:r>
              <a:rPr lang="en-US" sz="1800">
                <a:solidFill>
                  <a:schemeClr val="dk1"/>
                </a:solidFill>
              </a:rPr>
              <a:t>from the company should be fast.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b="1" lang="en-US" sz="1800">
                <a:solidFill>
                  <a:schemeClr val="dk1"/>
                </a:solidFill>
              </a:rPr>
              <a:t>Frequency of TV ads </a:t>
            </a:r>
            <a:r>
              <a:rPr lang="en-US" sz="1800">
                <a:solidFill>
                  <a:schemeClr val="dk1"/>
                </a:solidFill>
              </a:rPr>
              <a:t>should be increased.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lang="en-US" sz="1800">
                <a:solidFill>
                  <a:schemeClr val="dk1"/>
                </a:solidFill>
              </a:rPr>
              <a:t>Discounts and incentives should be </a:t>
            </a:r>
            <a:r>
              <a:rPr b="1" lang="en-US" sz="1800">
                <a:solidFill>
                  <a:schemeClr val="dk1"/>
                </a:solidFill>
              </a:rPr>
              <a:t>settled on time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b="1" lang="en-US" sz="1800">
                <a:solidFill>
                  <a:schemeClr val="dk1"/>
                </a:solidFill>
              </a:rPr>
              <a:t>Point of sale ads </a:t>
            </a:r>
            <a:r>
              <a:rPr lang="en-US" sz="1800">
                <a:solidFill>
                  <a:schemeClr val="dk1"/>
                </a:solidFill>
              </a:rPr>
              <a:t>should be displayed.</a:t>
            </a:r>
            <a:endParaRPr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28" name="Google Shape;3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4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5 -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5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5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336" name="Google Shape;336;p25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" name="Google Shape;337;p25"/>
          <p:cNvSpPr txBox="1"/>
          <p:nvPr>
            <p:ph idx="1" type="body"/>
          </p:nvPr>
        </p:nvSpPr>
        <p:spPr>
          <a:xfrm>
            <a:off x="393357" y="1219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Place 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lang="en-US" sz="1800">
                <a:solidFill>
                  <a:schemeClr val="dk1"/>
                </a:solidFill>
              </a:rPr>
              <a:t>During price changes the company should monitor and </a:t>
            </a:r>
            <a:r>
              <a:rPr b="1" lang="en-US" sz="1800">
                <a:solidFill>
                  <a:schemeClr val="dk1"/>
                </a:solidFill>
              </a:rPr>
              <a:t>smoothen the distribution of stock</a:t>
            </a:r>
            <a:r>
              <a:rPr lang="en-US" sz="1800">
                <a:solidFill>
                  <a:schemeClr val="dk1"/>
                </a:solidFill>
              </a:rPr>
              <a:t> from the dealers to sub-dealers as chaos occurs during such situations.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lang="en-US" sz="1800">
                <a:solidFill>
                  <a:schemeClr val="dk1"/>
                </a:solidFill>
              </a:rPr>
              <a:t>More concentration should be provided to </a:t>
            </a:r>
            <a:r>
              <a:rPr b="1" lang="en-US" sz="1800">
                <a:solidFill>
                  <a:schemeClr val="dk1"/>
                </a:solidFill>
              </a:rPr>
              <a:t>southern and central parts of Chennai.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lang="en-US" sz="1800">
                <a:solidFill>
                  <a:schemeClr val="dk1"/>
                </a:solidFill>
              </a:rPr>
              <a:t>Frequent analysis of </a:t>
            </a:r>
            <a:r>
              <a:rPr b="1" lang="en-US" sz="1800">
                <a:solidFill>
                  <a:schemeClr val="dk1"/>
                </a:solidFill>
              </a:rPr>
              <a:t>willingness to acquire Dalmia dealership</a:t>
            </a:r>
            <a:r>
              <a:rPr lang="en-US" sz="1800">
                <a:solidFill>
                  <a:schemeClr val="dk1"/>
                </a:solidFill>
              </a:rPr>
              <a:t> by non Dalmia dealers should be done.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b="1" lang="en-US" sz="1800">
                <a:solidFill>
                  <a:schemeClr val="dk1"/>
                </a:solidFill>
              </a:rPr>
              <a:t>Availability </a:t>
            </a:r>
            <a:r>
              <a:rPr lang="en-US" sz="1800">
                <a:solidFill>
                  <a:schemeClr val="dk1"/>
                </a:solidFill>
              </a:rPr>
              <a:t>should be increased in the slow moving areas like central Chennai also.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Price 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b="1" lang="en-US" sz="1800">
                <a:solidFill>
                  <a:schemeClr val="dk1"/>
                </a:solidFill>
              </a:rPr>
              <a:t>Stable price</a:t>
            </a:r>
            <a:r>
              <a:rPr lang="en-US" sz="1800">
                <a:solidFill>
                  <a:schemeClr val="dk1"/>
                </a:solidFill>
              </a:rPr>
              <a:t> should be maintained. In case if price change prior information should be passed on to the downstream.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b="1" lang="en-US" sz="1800">
                <a:solidFill>
                  <a:schemeClr val="dk1"/>
                </a:solidFill>
              </a:rPr>
              <a:t>Price can be reduced</a:t>
            </a:r>
            <a:r>
              <a:rPr lang="en-US" sz="1800">
                <a:solidFill>
                  <a:schemeClr val="dk1"/>
                </a:solidFill>
              </a:rPr>
              <a:t> to around Rs.340-Rs.350 from Rs.365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b="1" lang="en-US" sz="1800">
                <a:solidFill>
                  <a:schemeClr val="dk1"/>
                </a:solidFill>
              </a:rPr>
              <a:t>Profit margin</a:t>
            </a:r>
            <a:r>
              <a:rPr lang="en-US" sz="1800">
                <a:solidFill>
                  <a:schemeClr val="dk1"/>
                </a:solidFill>
              </a:rPr>
              <a:t> should be raised atleast 3%.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38" name="Google Shape;33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5"/>
          <p:cNvSpPr txBox="1"/>
          <p:nvPr/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b="0" i="0" lang="en-US" sz="48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Objective 5 - Findings</a:t>
            </a:r>
            <a:endParaRPr b="0" i="0" sz="4800" u="none" cap="none" strike="noStrik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6"/>
          <p:cNvSpPr txBox="1"/>
          <p:nvPr>
            <p:ph type="title"/>
          </p:nvPr>
        </p:nvSpPr>
        <p:spPr>
          <a:xfrm>
            <a:off x="381000" y="-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lang="en-US" sz="4800"/>
              <a:t>Suggestions</a:t>
            </a:r>
            <a:endParaRPr sz="4800"/>
          </a:p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079672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6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347" name="Google Shape;347;p26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8" name="Google Shape;348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Prior information on </a:t>
            </a:r>
            <a:r>
              <a:rPr b="1" lang="en-US">
                <a:solidFill>
                  <a:schemeClr val="dk1"/>
                </a:solidFill>
              </a:rPr>
              <a:t>price changes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Increasing </a:t>
            </a:r>
            <a:r>
              <a:rPr b="1" lang="en-US">
                <a:solidFill>
                  <a:schemeClr val="dk1"/>
                </a:solidFill>
              </a:rPr>
              <a:t>profit margin</a:t>
            </a:r>
            <a:r>
              <a:rPr lang="en-US">
                <a:solidFill>
                  <a:schemeClr val="dk1"/>
                </a:solidFill>
              </a:rPr>
              <a:t> per bag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Maintaining proper </a:t>
            </a:r>
            <a:r>
              <a:rPr b="1" lang="en-US">
                <a:solidFill>
                  <a:schemeClr val="dk1"/>
                </a:solidFill>
              </a:rPr>
              <a:t>discount records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>
                <a:solidFill>
                  <a:schemeClr val="dk1"/>
                </a:solidFill>
              </a:rPr>
              <a:t>Special scheme </a:t>
            </a:r>
            <a:r>
              <a:rPr lang="en-US">
                <a:solidFill>
                  <a:schemeClr val="dk1"/>
                </a:solidFill>
              </a:rPr>
              <a:t>for long term dealerships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Changing </a:t>
            </a:r>
            <a:r>
              <a:rPr b="1" lang="en-US">
                <a:solidFill>
                  <a:schemeClr val="dk1"/>
                </a:solidFill>
              </a:rPr>
              <a:t>bag colour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Checking </a:t>
            </a:r>
            <a:r>
              <a:rPr b="1" lang="en-US">
                <a:solidFill>
                  <a:schemeClr val="dk1"/>
                </a:solidFill>
              </a:rPr>
              <a:t>POS ads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</a:rPr>
              <a:t>Non-Dalmia dealers in these areas are </a:t>
            </a:r>
            <a:r>
              <a:rPr b="1" lang="en-US">
                <a:solidFill>
                  <a:schemeClr val="dk1"/>
                </a:solidFill>
              </a:rPr>
              <a:t>willing to be Dalmia dealers</a:t>
            </a:r>
            <a:r>
              <a:rPr lang="en-US">
                <a:solidFill>
                  <a:schemeClr val="dk1"/>
                </a:solidFill>
              </a:rPr>
              <a:t> in future who were to be follwed up</a:t>
            </a:r>
            <a:endParaRPr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14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</a:rPr>
              <a:t>South western Sub Urbans of Chennai (Anagaputhur and Kovur )</a:t>
            </a:r>
            <a:endParaRPr/>
          </a:p>
          <a:p>
            <a:pPr indent="-285750" lvl="1" marL="742950" rtl="0" algn="l">
              <a:lnSpc>
                <a:spcPct val="14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</a:rPr>
              <a:t>North Chennai ( Puzhal and Madhavaram )</a:t>
            </a:r>
            <a:endParaRPr/>
          </a:p>
          <a:p>
            <a:pPr indent="-285750" lvl="1" marL="742950" rtl="0" algn="l">
              <a:lnSpc>
                <a:spcPct val="14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</a:rPr>
              <a:t>Central Chennai ( Triplicane )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5944442"/>
            <a:ext cx="4672709" cy="913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7"/>
          <p:cNvSpPr txBox="1"/>
          <p:nvPr>
            <p:ph type="title"/>
          </p:nvPr>
        </p:nvSpPr>
        <p:spPr>
          <a:xfrm>
            <a:off x="355154" y="-445389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lang="en-US" sz="4800"/>
              <a:t>  Thank You</a:t>
            </a:r>
            <a:endParaRPr sz="4800"/>
          </a:p>
        </p:txBody>
      </p:sp>
      <p:sp>
        <p:nvSpPr>
          <p:cNvPr id="355" name="Google Shape;355;p27"/>
          <p:cNvSpPr txBox="1"/>
          <p:nvPr>
            <p:ph idx="1" type="body"/>
          </p:nvPr>
        </p:nvSpPr>
        <p:spPr>
          <a:xfrm>
            <a:off x="0" y="303204"/>
            <a:ext cx="8763000" cy="3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>
                <a:solidFill>
                  <a:schemeClr val="dk1"/>
                </a:solidFill>
              </a:rPr>
              <a:t>Mr. Ramu Subramaniyam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lang="en-US" sz="2220">
                <a:solidFill>
                  <a:schemeClr val="dk1"/>
                </a:solidFill>
              </a:rPr>
              <a:t>                </a:t>
            </a:r>
            <a:r>
              <a:rPr i="1" lang="en-US" sz="1572">
                <a:solidFill>
                  <a:schemeClr val="dk1"/>
                </a:solidFill>
              </a:rPr>
              <a:t>Studio Manager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Clr>
                <a:srgbClr val="7F7F7F"/>
              </a:buClr>
              <a:buSzPts val="1665"/>
              <a:buNone/>
            </a:pPr>
            <a:r>
              <a:t/>
            </a:r>
            <a:endParaRPr sz="1665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>
                <a:solidFill>
                  <a:schemeClr val="dk1"/>
                </a:solidFill>
              </a:rPr>
              <a:t>Mr. Summanth Cuppala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lang="en-US" sz="2220">
                <a:solidFill>
                  <a:schemeClr val="dk1"/>
                </a:solidFill>
              </a:rPr>
              <a:t>     </a:t>
            </a:r>
            <a:r>
              <a:rPr i="1" lang="en-US" sz="1572">
                <a:solidFill>
                  <a:schemeClr val="dk1"/>
                </a:solidFill>
              </a:rPr>
              <a:t>Marketing and Advertising Head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Clr>
                <a:srgbClr val="7F7F7F"/>
              </a:buClr>
              <a:buSzPts val="1665"/>
              <a:buNone/>
            </a:pPr>
            <a:r>
              <a:t/>
            </a:r>
            <a:endParaRPr i="1" sz="1665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>
                <a:solidFill>
                  <a:schemeClr val="dk1"/>
                </a:solidFill>
              </a:rPr>
              <a:t>Mr. Nareen Jung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lang="en-US" sz="2220">
                <a:solidFill>
                  <a:schemeClr val="dk1"/>
                </a:solidFill>
              </a:rPr>
              <a:t>     Mr. Sandheep Nair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14"/>
              </a:spcBef>
              <a:spcAft>
                <a:spcPts val="0"/>
              </a:spcAft>
              <a:buClr>
                <a:schemeClr val="dk1"/>
              </a:buClr>
              <a:buSzPts val="1572"/>
              <a:buNone/>
            </a:pPr>
            <a:r>
              <a:rPr lang="en-US" sz="1572">
                <a:solidFill>
                  <a:schemeClr val="dk1"/>
                </a:solidFill>
              </a:rPr>
              <a:t>        </a:t>
            </a:r>
            <a:r>
              <a:rPr i="1" lang="en-US" sz="1572">
                <a:solidFill>
                  <a:schemeClr val="dk1"/>
                </a:solidFill>
              </a:rPr>
              <a:t>Sr. Account Executives</a:t>
            </a:r>
            <a:endParaRPr sz="157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Clr>
                <a:srgbClr val="7F7F7F"/>
              </a:buClr>
              <a:buSzPts val="1665"/>
              <a:buNone/>
            </a:pPr>
            <a:r>
              <a:t/>
            </a:r>
            <a:endParaRPr sz="1665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>
                <a:solidFill>
                  <a:schemeClr val="dk1"/>
                </a:solidFill>
              </a:rPr>
              <a:t>Ms. Priyanka  R Nair</a:t>
            </a:r>
            <a:endParaRPr sz="22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314"/>
              </a:spcBef>
              <a:spcAft>
                <a:spcPts val="0"/>
              </a:spcAft>
              <a:buClr>
                <a:schemeClr val="dk1"/>
              </a:buClr>
              <a:buSzPts val="1572"/>
              <a:buNone/>
            </a:pPr>
            <a:r>
              <a:rPr lang="en-US" sz="1572">
                <a:solidFill>
                  <a:schemeClr val="dk1"/>
                </a:solidFill>
              </a:rPr>
              <a:t>           </a:t>
            </a:r>
            <a:r>
              <a:rPr i="1" lang="en-US" sz="1572">
                <a:solidFill>
                  <a:schemeClr val="dk1"/>
                </a:solidFill>
              </a:rPr>
              <a:t>Brand Manager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Clr>
                <a:srgbClr val="7F7F7F"/>
              </a:buClr>
              <a:buSzPts val="1665"/>
              <a:buNone/>
            </a:pPr>
            <a:r>
              <a:t/>
            </a:r>
            <a:endParaRPr sz="1665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>
                <a:solidFill>
                  <a:schemeClr val="dk1"/>
                </a:solidFill>
              </a:rPr>
              <a:t>Mr. Mahadev Kaushik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14"/>
              </a:spcBef>
              <a:spcAft>
                <a:spcPts val="0"/>
              </a:spcAft>
              <a:buClr>
                <a:schemeClr val="dk1"/>
              </a:buClr>
              <a:buSzPts val="1572"/>
              <a:buNone/>
            </a:pPr>
            <a:r>
              <a:rPr lang="en-US" sz="1572">
                <a:solidFill>
                  <a:schemeClr val="dk1"/>
                </a:solidFill>
              </a:rPr>
              <a:t>              </a:t>
            </a:r>
            <a:r>
              <a:rPr i="1" lang="en-US" sz="1572">
                <a:solidFill>
                  <a:schemeClr val="dk1"/>
                </a:solidFill>
              </a:rPr>
              <a:t>Creative Head </a:t>
            </a:r>
            <a:endParaRPr/>
          </a:p>
          <a:p>
            <a:pPr indent="-20193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ts val="2220"/>
              <a:buNone/>
            </a:pPr>
            <a:r>
              <a:t/>
            </a:r>
            <a:endParaRPr sz="2220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>
                <a:solidFill>
                  <a:schemeClr val="dk1"/>
                </a:solidFill>
              </a:rPr>
              <a:t>Ms. Shreya Daga</a:t>
            </a:r>
            <a:endParaRPr sz="22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lang="en-US" sz="2220">
                <a:solidFill>
                  <a:schemeClr val="dk1"/>
                </a:solidFill>
              </a:rPr>
              <a:t>     Ms. Rhea Mariya Raphel</a:t>
            </a:r>
            <a:endParaRPr sz="2220">
              <a:solidFill>
                <a:schemeClr val="dk1"/>
              </a:solidFill>
            </a:endParaRPr>
          </a:p>
          <a:p>
            <a:pPr indent="0" lvl="1" marL="40005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lang="en-US" sz="2220">
                <a:solidFill>
                  <a:schemeClr val="dk1"/>
                </a:solidFill>
              </a:rPr>
              <a:t>Mr. Varun Narendran</a:t>
            </a:r>
            <a:endParaRPr sz="2220">
              <a:solidFill>
                <a:schemeClr val="dk1"/>
              </a:solidFill>
            </a:endParaRPr>
          </a:p>
          <a:p>
            <a:pPr indent="0" lvl="1" marL="40005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lang="en-US" sz="2220">
                <a:solidFill>
                  <a:schemeClr val="dk1"/>
                </a:solidFill>
              </a:rPr>
              <a:t>Ms. Reshma K Nair</a:t>
            </a:r>
            <a:endParaRPr/>
          </a:p>
          <a:p>
            <a:pPr indent="0" lvl="1" marL="40005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lang="en-US" sz="2220">
                <a:solidFill>
                  <a:schemeClr val="dk1"/>
                </a:solidFill>
              </a:rPr>
              <a:t>Ms. Hema Sri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14"/>
              </a:spcBef>
              <a:spcAft>
                <a:spcPts val="0"/>
              </a:spcAft>
              <a:buClr>
                <a:schemeClr val="dk1"/>
              </a:buClr>
              <a:buSzPts val="1572"/>
              <a:buNone/>
            </a:pPr>
            <a:r>
              <a:rPr i="1" lang="en-US" sz="1572">
                <a:solidFill>
                  <a:schemeClr val="dk1"/>
                </a:solidFill>
              </a:rPr>
              <a:t>               Fellow Interns</a:t>
            </a:r>
            <a:endParaRPr/>
          </a:p>
          <a:p>
            <a:pPr indent="-20193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ts val="2220"/>
              <a:buNone/>
            </a:pPr>
            <a:r>
              <a:t/>
            </a:r>
            <a:endParaRPr i="1" sz="2220"/>
          </a:p>
          <a:p>
            <a:pPr indent="0" lvl="0" marL="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ts val="2220"/>
              <a:buNone/>
            </a:pPr>
            <a:r>
              <a:rPr lang="en-US" sz="2220"/>
              <a:t>     </a:t>
            </a:r>
            <a:endParaRPr sz="2220"/>
          </a:p>
        </p:txBody>
      </p:sp>
      <p:pic>
        <p:nvPicPr>
          <p:cNvPr id="356" name="Google Shape;356;p27"/>
          <p:cNvPicPr preferRelativeResize="0"/>
          <p:nvPr/>
        </p:nvPicPr>
        <p:blipFill rotWithShape="1">
          <a:blip r:embed="rId3">
            <a:alphaModFix/>
          </a:blip>
          <a:srcRect b="21739" l="20833" r="19621" t="14624"/>
          <a:stretch/>
        </p:blipFill>
        <p:spPr>
          <a:xfrm>
            <a:off x="7100454" y="0"/>
            <a:ext cx="2043546" cy="837178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7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8/23/2014</a:t>
            </a:r>
            <a:endParaRPr/>
          </a:p>
        </p:txBody>
      </p:sp>
      <p:sp>
        <p:nvSpPr>
          <p:cNvPr id="358" name="Google Shape;358;p27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512618" y="2286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2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Intern Guides at Leo Burnett, Chennai</a:t>
            </a:r>
            <a:endParaRPr b="1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0" name="Google Shape;36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691" y="6096842"/>
            <a:ext cx="4672709" cy="913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xecutive">
  <a:themeElements>
    <a:clrScheme name="Executive">
      <a:dk1>
        <a:srgbClr val="000000"/>
      </a:dk1>
      <a:lt1>
        <a:srgbClr val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2014-08-18T18:32:00Z</dcterms:created>
  <dc:creator>admin</dc:creator>
</cp:coreProperties>
</file>