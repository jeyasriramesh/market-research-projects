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</p:sldIdLst>
  <p:sldSz cy="6858000" cx="12192000"/>
  <p:notesSz cx="6954825" cy="9309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30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40175" y="0"/>
            <a:ext cx="30130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375"/>
            <a:ext cx="30130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6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7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7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7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7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7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7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7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7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8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8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8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8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8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8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8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8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8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91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91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92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92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3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93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4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94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95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95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96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96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97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97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98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98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99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99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0:notes"/>
          <p:cNvSpPr txBox="1"/>
          <p:nvPr>
            <p:ph idx="1" type="body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00:notes"/>
          <p:cNvSpPr/>
          <p:nvPr>
            <p:ph idx="2" type="sldImg"/>
          </p:nvPr>
        </p:nvSpPr>
        <p:spPr>
          <a:xfrm>
            <a:off x="374650" y="698500"/>
            <a:ext cx="6205538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1pPr>
            <a:lvl2pPr indent="0" lvl="1" marL="457200" marR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2pPr>
            <a:lvl3pPr indent="0" lvl="2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3pPr>
            <a:lvl4pPr indent="0" lvl="3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4pPr>
            <a:lvl5pPr indent="0" lvl="4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5pPr>
            <a:lvl6pPr indent="0" lvl="5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6pPr>
            <a:lvl7pPr indent="0" lvl="6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7pPr>
            <a:lvl8pPr indent="0" lvl="7" marL="3200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8pPr>
            <a:lvl9pPr indent="0" lvl="8" marL="3657600" marR="0" rtl="0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7D0C0"/>
          </a:solidFill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1pPr>
            <a:lvl2pPr indent="0" lvl="1" marL="457200" marR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2pPr>
            <a:lvl3pPr indent="0" lvl="2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3pPr>
            <a:lvl4pPr indent="0" lvl="3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4pPr>
            <a:lvl5pPr indent="0" lvl="4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5pPr>
            <a:lvl6pPr indent="0" lvl="5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6pPr>
            <a:lvl7pPr indent="0" lvl="6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7pPr>
            <a:lvl8pPr indent="0" lvl="7" marL="3200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/>
            </a:lvl8pPr>
            <a:lvl9pPr indent="0" lvl="8" marL="3657600" marR="0" rtl="0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4" name="Google Shape;124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2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8" name="Google Shape;168;p2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22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84B2F6"/>
          </a:solidFill>
          <a:ln>
            <a:noFill/>
          </a:ln>
        </p:spPr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/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9" name="Google Shape;109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7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6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idx="1" type="subTitle"/>
          </p:nvPr>
        </p:nvSpPr>
        <p:spPr>
          <a:xfrm>
            <a:off x="1828800" y="3522643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Calibri"/>
              <a:buNone/>
            </a:pPr>
            <a:r>
              <a:rPr b="0" i="1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BRAND AWARENESS STUDY</a:t>
            </a:r>
            <a:endParaRPr b="0" i="1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2050" y="1629027"/>
            <a:ext cx="2666130" cy="162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4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dipstick study to check brand awareness levels amongst top conglomerates / corporate groups, pre campaign launch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54864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44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548640" y="1569721"/>
            <a:ext cx="11155680" cy="4835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22860" lvl="0" marL="914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Brand Awareness Study</a:t>
            </a:r>
            <a:endParaRPr/>
          </a:p>
          <a:p>
            <a:pPr indent="-193548" lvl="1" marL="384048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</a:pPr>
            <a:r>
              <a:rPr b="0" i="0" lang="en-US" sz="1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quantitative study across 4 centers (Delhi, Mumbai, Hyderabad &amp; Chennai)</a:t>
            </a:r>
            <a:endParaRPr/>
          </a:p>
          <a:p>
            <a:pPr indent="-193548" lvl="1" marL="384048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</a:pPr>
            <a:r>
              <a:rPr b="0" i="0" lang="en-US" sz="1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30 respondents from each city</a:t>
            </a:r>
            <a:endParaRPr/>
          </a:p>
          <a:p>
            <a:pPr indent="-193548" lvl="1" marL="384048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</a:pPr>
            <a:r>
              <a:rPr b="0" i="0" lang="en-US" sz="1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Short one page questionnaire to record their TOM, spontaneous &amp; aided recall</a:t>
            </a:r>
            <a:endParaRPr/>
          </a:p>
          <a:p>
            <a:pPr indent="-193548" lvl="1" marL="384048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</a:pPr>
            <a:r>
              <a:rPr b="0" i="0" lang="en-US" sz="1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Recruitment standards set as per brand TG</a:t>
            </a:r>
            <a:endParaRPr/>
          </a:p>
          <a:p>
            <a:pPr indent="-193548" lvl="1" marL="384048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</a:pPr>
            <a:r>
              <a:rPr b="0" i="0" lang="en-US" sz="16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Recruitment &amp; survey conducted by external research agency in Delhi, Mumbai &amp; Hyderabad (by our own executives in Chennai)</a:t>
            </a:r>
            <a:endParaRPr/>
          </a:p>
          <a:p>
            <a:pPr indent="-98298" lvl="1" marL="384048" marR="0" rtl="0" algn="l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Respondents profile</a:t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240" y="2072640"/>
            <a:ext cx="5974080" cy="3870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Respondents profile</a:t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254" y="1885603"/>
            <a:ext cx="6941127" cy="416467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Brand Awareness Study</a:t>
            </a:r>
            <a:endParaRPr b="0" i="0" sz="4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Indian conglomerates / corporate Group - brand awareness </a:t>
            </a:r>
            <a:endParaRPr/>
          </a:p>
          <a:p>
            <a:pPr indent="-193548" lvl="1" marL="38404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Overall</a:t>
            </a:r>
            <a:endParaRPr/>
          </a:p>
          <a:p>
            <a:pPr indent="-193548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TOM</a:t>
            </a:r>
            <a:endParaRPr/>
          </a:p>
          <a:p>
            <a:pPr indent="-193548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Spontaneous</a:t>
            </a:r>
            <a:endParaRPr/>
          </a:p>
          <a:p>
            <a:pPr indent="-193548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Aided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Murugappa awareness</a:t>
            </a:r>
            <a:endParaRPr/>
          </a:p>
          <a:p>
            <a:pPr indent="-193548" lvl="1" marL="38404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Group company association</a:t>
            </a:r>
            <a:endParaRPr/>
          </a:p>
          <a:p>
            <a:pPr indent="-193548" lvl="1" marL="3840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➢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Quality of awareness</a:t>
            </a:r>
            <a:endParaRPr/>
          </a:p>
          <a:p>
            <a:pPr indent="-10668" lvl="1" marL="201168" marR="0" rtl="0"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Overall Brand Awareness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Overall Brand Awareness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50448"/>
            <a:ext cx="10252364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TOM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TOM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9610" y="1762992"/>
            <a:ext cx="10665209" cy="455468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4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Spontaneous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Spontaneous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345" y="1769268"/>
            <a:ext cx="10002981" cy="435444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Aided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Aided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110" y="1794163"/>
            <a:ext cx="10363200" cy="435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8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brands mentioned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TCS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Cognizant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Infosys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Philips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HCL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brands mentioned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IOB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Dabur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Maruthi Suzuki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Sahara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Ashok Leyland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Future Group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Infosys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India Cements 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Noto Symbol"/>
              <a:buChar char="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HCL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Awareness of Murugappa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41"/>
          <p:cNvGrpSpPr/>
          <p:nvPr/>
        </p:nvGrpSpPr>
        <p:grpSpPr>
          <a:xfrm>
            <a:off x="1424687" y="1889760"/>
            <a:ext cx="9484864" cy="4340012"/>
            <a:chOff x="2287" y="0"/>
            <a:chExt cx="9484864" cy="4340012"/>
          </a:xfrm>
        </p:grpSpPr>
        <p:sp>
          <p:nvSpPr>
            <p:cNvPr id="307" name="Google Shape;307;p41"/>
            <p:cNvSpPr/>
            <p:nvPr/>
          </p:nvSpPr>
          <p:spPr>
            <a:xfrm>
              <a:off x="2287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F6D9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1"/>
            <p:cNvSpPr txBox="1"/>
            <p:nvPr/>
          </p:nvSpPr>
          <p:spPr>
            <a:xfrm>
              <a:off x="2287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CHENNAI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272506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D34614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1"/>
            <p:cNvSpPr txBox="1"/>
            <p:nvPr/>
          </p:nvSpPr>
          <p:spPr>
            <a:xfrm>
              <a:off x="325108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They have more than 15 companies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They come for placements in Engineering colleges.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 Cycles &amp; Parrys is very famous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Coromandel is from Murugappa. They are into fertilizers and cements.</a:t>
              </a:r>
              <a:endParaRPr b="0" i="1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1"/>
            <p:cNvSpPr/>
            <p:nvPr/>
          </p:nvSpPr>
          <p:spPr>
            <a:xfrm>
              <a:off x="2415596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F6D9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1"/>
            <p:cNvSpPr txBox="1"/>
            <p:nvPr/>
          </p:nvSpPr>
          <p:spPr>
            <a:xfrm>
              <a:off x="2415596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HYDERABAD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41"/>
            <p:cNvSpPr/>
            <p:nvPr/>
          </p:nvSpPr>
          <p:spPr>
            <a:xfrm>
              <a:off x="2685815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D34614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1"/>
            <p:cNvSpPr txBox="1"/>
            <p:nvPr/>
          </p:nvSpPr>
          <p:spPr>
            <a:xfrm>
              <a:off x="2738417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It is one of the popular organization from south India doing different activities like Finance, Investment, Manufacturing etc.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It is a financial group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Coromandel belongs to Murugappa</a:t>
              </a:r>
              <a:endParaRPr b="0" i="1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41"/>
            <p:cNvSpPr/>
            <p:nvPr/>
          </p:nvSpPr>
          <p:spPr>
            <a:xfrm>
              <a:off x="4828905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F6D9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1"/>
            <p:cNvSpPr txBox="1"/>
            <p:nvPr/>
          </p:nvSpPr>
          <p:spPr>
            <a:xfrm>
              <a:off x="4828905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MUMBAI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41"/>
            <p:cNvSpPr/>
            <p:nvPr/>
          </p:nvSpPr>
          <p:spPr>
            <a:xfrm>
              <a:off x="5099123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D34614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1"/>
            <p:cNvSpPr txBox="1"/>
            <p:nvPr/>
          </p:nvSpPr>
          <p:spPr>
            <a:xfrm>
              <a:off x="5151725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Gives personal loan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South Indian Finance company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They are in finance sector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Education and car loan</a:t>
              </a:r>
              <a:endParaRPr b="0" i="1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1"/>
            <p:cNvSpPr/>
            <p:nvPr/>
          </p:nvSpPr>
          <p:spPr>
            <a:xfrm>
              <a:off x="7242213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F6D9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1"/>
            <p:cNvSpPr txBox="1"/>
            <p:nvPr/>
          </p:nvSpPr>
          <p:spPr>
            <a:xfrm>
              <a:off x="7242213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DELHI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41"/>
            <p:cNvSpPr/>
            <p:nvPr/>
          </p:nvSpPr>
          <p:spPr>
            <a:xfrm>
              <a:off x="7512432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D34614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1"/>
            <p:cNvSpPr txBox="1"/>
            <p:nvPr/>
          </p:nvSpPr>
          <p:spPr>
            <a:xfrm>
              <a:off x="7565034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Financial services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Heard of them. Not sure what business they are into.</a:t>
              </a:r>
              <a:endParaRPr b="0" i="1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41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Awareness of Murugappa – 4 cities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42"/>
          <p:cNvGrpSpPr/>
          <p:nvPr/>
        </p:nvGrpSpPr>
        <p:grpSpPr>
          <a:xfrm>
            <a:off x="1424687" y="1889760"/>
            <a:ext cx="9484864" cy="4340012"/>
            <a:chOff x="2287" y="0"/>
            <a:chExt cx="9484864" cy="4340012"/>
          </a:xfrm>
        </p:grpSpPr>
        <p:sp>
          <p:nvSpPr>
            <p:cNvPr id="330" name="Google Shape;330;p42"/>
            <p:cNvSpPr/>
            <p:nvPr/>
          </p:nvSpPr>
          <p:spPr>
            <a:xfrm>
              <a:off x="2287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DDEB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2"/>
            <p:cNvSpPr txBox="1"/>
            <p:nvPr/>
          </p:nvSpPr>
          <p:spPr>
            <a:xfrm>
              <a:off x="2287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CHENNAI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2"/>
            <p:cNvSpPr/>
            <p:nvPr/>
          </p:nvSpPr>
          <p:spPr>
            <a:xfrm>
              <a:off x="170873" y="849717"/>
              <a:ext cx="1916099" cy="2819959"/>
            </a:xfrm>
            <a:prstGeom prst="roundRect">
              <a:avLst>
                <a:gd fmla="val 10000" name="adj"/>
              </a:avLst>
            </a:prstGeom>
            <a:solidFill>
              <a:srgbClr val="5F9DD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2"/>
            <p:cNvSpPr txBox="1"/>
            <p:nvPr/>
          </p:nvSpPr>
          <p:spPr>
            <a:xfrm>
              <a:off x="226994" y="905838"/>
              <a:ext cx="1803857" cy="2707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They have  many  diverse companies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Head office is in Parry’s corner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 Cycles &amp; Parrys is very famous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Next to parry the most recalled brands are Parryware and Coromandel cements.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They came out with Madras song.</a:t>
              </a:r>
              <a:endParaRPr/>
            </a:p>
          </p:txBody>
        </p:sp>
        <p:sp>
          <p:nvSpPr>
            <p:cNvPr id="334" name="Google Shape;334;p42"/>
            <p:cNvSpPr/>
            <p:nvPr/>
          </p:nvSpPr>
          <p:spPr>
            <a:xfrm>
              <a:off x="2415596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DDEB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2"/>
            <p:cNvSpPr txBox="1"/>
            <p:nvPr/>
          </p:nvSpPr>
          <p:spPr>
            <a:xfrm>
              <a:off x="2415596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HYDERABAD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42"/>
            <p:cNvSpPr/>
            <p:nvPr/>
          </p:nvSpPr>
          <p:spPr>
            <a:xfrm>
              <a:off x="2685815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5F9DD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2"/>
            <p:cNvSpPr txBox="1"/>
            <p:nvPr/>
          </p:nvSpPr>
          <p:spPr>
            <a:xfrm>
              <a:off x="2738417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South Indian conglomerate which is into different activities like Finance,  Cycles, Sugar, Insurance and cement etc.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Knew brands under  them just recently</a:t>
              </a:r>
              <a:endParaRPr b="0" i="1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42"/>
            <p:cNvSpPr/>
            <p:nvPr/>
          </p:nvSpPr>
          <p:spPr>
            <a:xfrm>
              <a:off x="4828905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DDEB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2"/>
            <p:cNvSpPr txBox="1"/>
            <p:nvPr/>
          </p:nvSpPr>
          <p:spPr>
            <a:xfrm>
              <a:off x="4828905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MUMBAI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42"/>
            <p:cNvSpPr/>
            <p:nvPr/>
          </p:nvSpPr>
          <p:spPr>
            <a:xfrm>
              <a:off x="5099123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5F9DD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2"/>
            <p:cNvSpPr txBox="1"/>
            <p:nvPr/>
          </p:nvSpPr>
          <p:spPr>
            <a:xfrm>
              <a:off x="5151725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South Indian Finance company that is into education loan,  investments and insurance</a:t>
              </a:r>
              <a:endParaRPr b="0" i="1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2"/>
            <p:cNvSpPr/>
            <p:nvPr/>
          </p:nvSpPr>
          <p:spPr>
            <a:xfrm>
              <a:off x="7242213" y="0"/>
              <a:ext cx="2244938" cy="4340012"/>
            </a:xfrm>
            <a:prstGeom prst="roundRect">
              <a:avLst>
                <a:gd fmla="val 10000" name="adj"/>
              </a:avLst>
            </a:prstGeom>
            <a:solidFill>
              <a:srgbClr val="DDEB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2"/>
            <p:cNvSpPr txBox="1"/>
            <p:nvPr/>
          </p:nvSpPr>
          <p:spPr>
            <a:xfrm>
              <a:off x="7242213" y="0"/>
              <a:ext cx="2244938" cy="1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63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DELHI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42"/>
            <p:cNvSpPr/>
            <p:nvPr/>
          </p:nvSpPr>
          <p:spPr>
            <a:xfrm>
              <a:off x="7498585" y="888527"/>
              <a:ext cx="1795950" cy="2818783"/>
            </a:xfrm>
            <a:prstGeom prst="roundRect">
              <a:avLst>
                <a:gd fmla="val 10000" name="adj"/>
              </a:avLst>
            </a:prstGeom>
            <a:solidFill>
              <a:srgbClr val="5F9DD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2"/>
            <p:cNvSpPr txBox="1"/>
            <p:nvPr/>
          </p:nvSpPr>
          <p:spPr>
            <a:xfrm>
              <a:off x="7551187" y="941129"/>
              <a:ext cx="1690746" cy="2713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35550" spcFirstLastPara="1" rIns="3555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None/>
              </a:pPr>
              <a:r>
                <a:rPr b="0" i="1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South Indian Finance Company / group of companies </a:t>
              </a:r>
              <a:endParaRPr/>
            </a:p>
          </p:txBody>
        </p:sp>
      </p:grpSp>
      <p:sp>
        <p:nvSpPr>
          <p:cNvPr id="346" name="Google Shape;346;p42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-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3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-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283" y="2152650"/>
            <a:ext cx="9875189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– Group Companies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5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– Group Companies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491" y="2152649"/>
            <a:ext cx="9947564" cy="401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– Group Companies – Spont.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7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– Group Companies – Spont.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8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635" y="1884219"/>
            <a:ext cx="9933709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– Group Companies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9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cities – Group Companies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0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909" y="1884218"/>
            <a:ext cx="9739746" cy="435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Calibri"/>
              <a:buNone/>
            </a:pPr>
            <a:r>
              <a:rPr b="0" i="0" lang="en-US" sz="4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CHENNAI</a:t>
            </a:r>
            <a:endParaRPr b="0" i="0" sz="48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2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781" y="1898073"/>
            <a:ext cx="10044545" cy="435032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3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4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109" y="1801091"/>
            <a:ext cx="10224655" cy="435032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5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6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199" y="1870364"/>
            <a:ext cx="9989127" cy="4336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7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8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071" y="1877290"/>
            <a:ext cx="10072255" cy="435586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9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have more than 15 companies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 is there for around 40 years. They offer banking &amp; financial consultation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Just seen in an advertisement. They are a insurance company. 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 is a management company. They come for placements in Engineering colleges. 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TI Cycles &amp; Parrys is very famous other businesses are all industrial based I think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Coromandel is from Murugappa. They are into fertilizers and cements.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Seen a music video recently. </a:t>
            </a:r>
            <a:endParaRPr/>
          </a:p>
          <a:p>
            <a:pPr indent="228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None/>
            </a:pPr>
            <a:r>
              <a:t/>
            </a:r>
            <a:endParaRPr b="0" i="1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355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60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Murugappa is a very old reputed company.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Hercules cycles are their product.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Many haven't seen advertisements but have known through friends or families.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They are also own colleges and hospitals also.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TI Cycles &amp; Parrys are very famous. 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Coromandel is from Murugappa. They are into fertilizers and cements.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Seen a music video recently for 375</a:t>
            </a:r>
            <a:r>
              <a:rPr b="0" baseline="3000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birthday of Chennai. </a:t>
            </a:r>
            <a:endParaRPr/>
          </a:p>
          <a:p>
            <a:pPr indent="228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None/>
            </a:pPr>
            <a:r>
              <a:t/>
            </a:r>
            <a:endParaRPr b="0" i="1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355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61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2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63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199" y="1925782"/>
            <a:ext cx="9989127" cy="4253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64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5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073" y="2152649"/>
            <a:ext cx="10086109" cy="404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– Spont.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6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– Spont.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7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073" y="1828800"/>
            <a:ext cx="10002982" cy="4384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8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Chennai – Group Companies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9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473" y="1856510"/>
            <a:ext cx="9809018" cy="4308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Calibri"/>
              <a:buNone/>
            </a:pPr>
            <a:r>
              <a:rPr b="0" i="0" lang="en-US" sz="4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HYDERABAD</a:t>
            </a:r>
            <a:endParaRPr b="0" i="0" sz="48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71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" name="Google Shape;55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073" y="2057400"/>
            <a:ext cx="9989127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72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3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5" name="Google Shape;56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783" y="1891146"/>
            <a:ext cx="9975272" cy="4364182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4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2" name="Google Shape;57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37360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5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9" name="Google Shape;57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491" y="1814945"/>
            <a:ext cx="9933709" cy="4433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76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6" name="Google Shape;58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7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781" y="1842654"/>
            <a:ext cx="9989127" cy="4461163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8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7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one of the popular organization from south India doing different activities like Finance, Investment, Manufacturing etc.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 is a financial group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Coromandel belongs to Murugappa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 is a group of companies manufacturing cycles, tubes and fertilizers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They are leading in finance and cycle manufacture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Chola insurance belongs to Murugappa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Murugappa group has multiple businesses like fisheries, oil etc.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Font typeface="Calibri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79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8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Murugappa is a south Indian diversified company which is into finance, agriculture and manufacturing.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They own Hercules and BSA brand of cycles 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Coromandel cements and fertilizers belongs to Murugappa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Chola insurance and cholamandalam finance belongs to Murugappa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Came to know about the brands they own recently. Knew only the products till then.</a:t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80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81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82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2" name="Google Shape;62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199" y="2057400"/>
            <a:ext cx="9892145" cy="406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83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4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491" y="2057399"/>
            <a:ext cx="9961418" cy="409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– Spont.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85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– Spont.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86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27" y="2057399"/>
            <a:ext cx="10002982" cy="40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87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Hyderabad – Group Companies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88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4" name="Google Shape;66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764" y="2057400"/>
            <a:ext cx="9850581" cy="4073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9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Calibri"/>
              <a:buNone/>
            </a:pPr>
            <a:r>
              <a:rPr b="0" i="0" lang="en-US" sz="4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0" i="0" sz="48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5" name="Google Shape;67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90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2" name="Google Shape;68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01092"/>
            <a:ext cx="9961418" cy="4475018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91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9" name="Google Shape;68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92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27" y="1745673"/>
            <a:ext cx="10058400" cy="447917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93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3" name="Google Shape;7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94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363" y="2057400"/>
            <a:ext cx="10086109" cy="4149436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95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96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9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4" name="Google Shape;72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635" y="2057400"/>
            <a:ext cx="10072255" cy="417714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97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9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Offers educational and vehicle loan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Gives personal loan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South Indian Finance company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Some insurance plan and overseas travel plan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They give loans and cater to a wide range of products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They give finance – loan for car and education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They are in the finance sector</a:t>
            </a:r>
            <a:endParaRPr/>
          </a:p>
          <a:p>
            <a:pPr indent="355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98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9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 available</a:t>
            </a:r>
            <a:endParaRPr/>
          </a:p>
          <a:p>
            <a:pPr indent="355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99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" name="Google Shape;74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100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Mumbai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01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3" name="Google Shape;75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909" y="2057399"/>
            <a:ext cx="10002982" cy="4281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0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Calibri"/>
              <a:buNone/>
            </a:pPr>
            <a:r>
              <a:rPr b="0" i="0" lang="en-US" sz="4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DELHI</a:t>
            </a:r>
            <a:endParaRPr b="0" i="0" sz="48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4" name="Google Shape;76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103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0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Google Shape;77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781" y="1842655"/>
            <a:ext cx="10030691" cy="4350327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104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8" name="Google Shape;77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105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TOM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5" name="Google Shape;78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773382"/>
            <a:ext cx="9947564" cy="4461164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106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2" name="Google Shape;79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07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0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Spontaneous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9" name="Google Shape;799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327" y="1801091"/>
            <a:ext cx="9795164" cy="4504113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08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6" name="Google Shape;80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09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Aided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42655"/>
            <a:ext cx="9947564" cy="45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10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Financial services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Heard of them. Not sure what business they are into.</a:t>
            </a:r>
            <a:endParaRPr/>
          </a:p>
          <a:p>
            <a:pPr indent="355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11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- Awareness of Murugappa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1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south Indian finance company</a:t>
            </a:r>
            <a:endParaRPr/>
          </a:p>
          <a:p>
            <a:pPr indent="355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t/>
            </a:r>
            <a:endParaRPr b="0" i="1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12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4" name="Google Shape;83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13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Delhi – Group companies - Overall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14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2" name="Google Shape;84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763" y="2057399"/>
            <a:ext cx="9892145" cy="403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takeouts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Overall awareness of Murugappa group at 43% </a:t>
            </a:r>
            <a:endParaRPr/>
          </a:p>
          <a:p>
            <a:pPr indent="-91440" lvl="0" marL="9144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Cholamandalam / Chola is the most associated group company. Could also owe to the fact that Chola’s campaign was running at the time of the survey.</a:t>
            </a:r>
            <a:endParaRPr/>
          </a:p>
          <a:p>
            <a:pPr indent="-91440" lvl="0" marL="9144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While TOM or Spontaneous response is not the criteria, we should look at improving the Aided brand awareness scores – through the year visibility initiatives</a:t>
            </a:r>
            <a:endParaRPr/>
          </a:p>
          <a:p>
            <a:pPr indent="-91440" lvl="0" marL="9144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Concentrate on promoting association with consumer interacting business units first followed by B2B businesses. This will improve aided awareness scores amongst TG as they see/ interact with these businesses on a day-to-day basis</a:t>
            </a:r>
            <a:endParaRPr/>
          </a:p>
          <a:p>
            <a:pPr indent="22860" lvl="0" marL="91440" marR="0" rtl="0" algn="l">
              <a:lnSpc>
                <a:spcPct val="15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15"/>
          <p:cNvSpPr txBox="1"/>
          <p:nvPr/>
        </p:nvSpPr>
        <p:spPr>
          <a:xfrm>
            <a:off x="9610917" y="193964"/>
            <a:ext cx="2319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PRE-CAMPAIGN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Calibri"/>
              <a:buNone/>
            </a:pPr>
            <a:r>
              <a:rPr b="0" i="0" lang="en-US" sz="4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takeouts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Overall awareness of Murugappa group has raised to 53% from 43%. </a:t>
            </a:r>
            <a:endParaRPr/>
          </a:p>
          <a:p>
            <a:pPr indent="-91440" lvl="0" marL="91440" marR="0" rtl="0" algn="l">
              <a:lnSpc>
                <a:spcPct val="15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16"/>
          <p:cNvSpPr txBox="1"/>
          <p:nvPr/>
        </p:nvSpPr>
        <p:spPr>
          <a:xfrm>
            <a:off x="9610917" y="193964"/>
            <a:ext cx="245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POST-CAMPAIGN STUDY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17"/>
          <p:cNvSpPr txBox="1"/>
          <p:nvPr/>
        </p:nvSpPr>
        <p:spPr>
          <a:xfrm>
            <a:off x="3915507" y="2954215"/>
            <a:ext cx="40327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Retrospect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